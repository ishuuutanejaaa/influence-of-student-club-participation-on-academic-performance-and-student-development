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5"/>
  </p:notesMasterIdLst>
  <p:handoutMasterIdLst>
    <p:handoutMasterId r:id="rId26"/>
  </p:handoutMasterIdLst>
  <p:sldIdLst>
    <p:sldId id="256" r:id="rId5"/>
    <p:sldId id="257" r:id="rId6"/>
    <p:sldId id="285" r:id="rId7"/>
    <p:sldId id="283" r:id="rId8"/>
    <p:sldId id="269" r:id="rId9"/>
    <p:sldId id="284" r:id="rId10"/>
    <p:sldId id="270" r:id="rId11"/>
    <p:sldId id="271" r:id="rId12"/>
    <p:sldId id="272" r:id="rId13"/>
    <p:sldId id="280" r:id="rId14"/>
    <p:sldId id="273" r:id="rId15"/>
    <p:sldId id="281" r:id="rId16"/>
    <p:sldId id="274" r:id="rId17"/>
    <p:sldId id="275" r:id="rId18"/>
    <p:sldId id="282" r:id="rId19"/>
    <p:sldId id="276" r:id="rId20"/>
    <p:sldId id="277" r:id="rId21"/>
    <p:sldId id="278" r:id="rId22"/>
    <p:sldId id="279" r:id="rId23"/>
    <p:sldId id="268" r:id="rId2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000" dirty="0"/>
              <a:t>Influence of Student Club Participation on Academic Performance and Student Development</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Ishika , Daksh</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2210990421, 2210991470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Dr. Manav Bansal</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Index</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3" name="TextBox 2">
            <a:extLst>
              <a:ext uri="{FF2B5EF4-FFF2-40B4-BE49-F238E27FC236}">
                <a16:creationId xmlns:a16="http://schemas.microsoft.com/office/drawing/2014/main" id="{B78A319B-F97C-9CB8-D423-4D051E2D9362}"/>
              </a:ext>
            </a:extLst>
          </p:cNvPr>
          <p:cNvSpPr txBox="1"/>
          <p:nvPr/>
        </p:nvSpPr>
        <p:spPr>
          <a:xfrm>
            <a:off x="280416" y="1353312"/>
            <a:ext cx="8619744" cy="3970318"/>
          </a:xfrm>
          <a:prstGeom prst="rect">
            <a:avLst/>
          </a:prstGeom>
          <a:noFill/>
        </p:spPr>
        <p:txBody>
          <a:bodyPr wrap="square">
            <a:spAutoFit/>
          </a:bodyPr>
          <a:lstStyle/>
          <a:p>
            <a:pPr marL="285750" indent="-285750">
              <a:buFont typeface="Arial" panose="020B0604020202020204" pitchFamily="34" charset="0"/>
              <a:buChar char="•"/>
            </a:pPr>
            <a:r>
              <a:rPr lang="en-US" dirty="0"/>
              <a:t>Introduction </a:t>
            </a:r>
          </a:p>
          <a:p>
            <a:pPr marL="285750" indent="-285750">
              <a:buFont typeface="Arial" panose="020B0604020202020204" pitchFamily="34" charset="0"/>
              <a:buChar char="•"/>
            </a:pPr>
            <a:r>
              <a:rPr lang="en-US" dirty="0"/>
              <a:t>Glimpses</a:t>
            </a:r>
          </a:p>
          <a:p>
            <a:pPr marL="285750" indent="-285750">
              <a:buFont typeface="Arial" panose="020B0604020202020204" pitchFamily="34" charset="0"/>
              <a:buChar char="•"/>
            </a:pPr>
            <a:r>
              <a:rPr lang="en-US" dirty="0"/>
              <a:t>Problem Statement </a:t>
            </a:r>
          </a:p>
          <a:p>
            <a:pPr marL="285750" indent="-285750">
              <a:buFont typeface="Arial" panose="020B0604020202020204" pitchFamily="34" charset="0"/>
              <a:buChar char="•"/>
            </a:pPr>
            <a:r>
              <a:rPr lang="en-US" dirty="0"/>
              <a:t>Objectives of the Study </a:t>
            </a:r>
          </a:p>
          <a:p>
            <a:pPr marL="285750" indent="-285750">
              <a:buFont typeface="Arial" panose="020B0604020202020204" pitchFamily="34" charset="0"/>
              <a:buChar char="•"/>
            </a:pPr>
            <a:r>
              <a:rPr lang="en-US" dirty="0"/>
              <a:t>Research Methodology</a:t>
            </a:r>
          </a:p>
          <a:p>
            <a:pPr marL="285750" indent="-285750">
              <a:buFont typeface="Arial" panose="020B0604020202020204" pitchFamily="34" charset="0"/>
              <a:buChar char="•"/>
            </a:pPr>
            <a:r>
              <a:rPr lang="en-US" dirty="0"/>
              <a:t>Participation Overview </a:t>
            </a:r>
          </a:p>
          <a:p>
            <a:pPr marL="285750" indent="-285750">
              <a:buFont typeface="Arial" panose="020B0604020202020204" pitchFamily="34" charset="0"/>
              <a:buChar char="•"/>
            </a:pPr>
            <a:r>
              <a:rPr lang="en-US" dirty="0"/>
              <a:t>Academic Performance Analysis</a:t>
            </a:r>
          </a:p>
          <a:p>
            <a:pPr marL="285750" indent="-285750">
              <a:buFont typeface="Arial" panose="020B0604020202020204" pitchFamily="34" charset="0"/>
              <a:buChar char="•"/>
            </a:pPr>
            <a:r>
              <a:rPr lang="en-US" dirty="0"/>
              <a:t>Confidence and Communication Skills </a:t>
            </a:r>
          </a:p>
          <a:p>
            <a:pPr marL="285750" indent="-285750">
              <a:buFont typeface="Arial" panose="020B0604020202020204" pitchFamily="34" charset="0"/>
              <a:buChar char="•"/>
            </a:pPr>
            <a:r>
              <a:rPr lang="en-US" dirty="0"/>
              <a:t>Teamwork and Time Management </a:t>
            </a:r>
          </a:p>
          <a:p>
            <a:pPr marL="285750" indent="-285750">
              <a:buFont typeface="Arial" panose="020B0604020202020204" pitchFamily="34" charset="0"/>
              <a:buChar char="•"/>
            </a:pPr>
            <a:r>
              <a:rPr lang="en-US" dirty="0"/>
              <a:t>Average Skill Development </a:t>
            </a:r>
          </a:p>
          <a:p>
            <a:pPr marL="285750" indent="-285750">
              <a:buFont typeface="Arial" panose="020B0604020202020204" pitchFamily="34" charset="0"/>
              <a:buChar char="•"/>
            </a:pPr>
            <a:r>
              <a:rPr lang="en-US" dirty="0"/>
              <a:t>Major Findings</a:t>
            </a:r>
          </a:p>
          <a:p>
            <a:pPr marL="285750" indent="-285750">
              <a:buFont typeface="Arial" panose="020B0604020202020204" pitchFamily="34" charset="0"/>
              <a:buChar char="•"/>
            </a:pPr>
            <a:r>
              <a:rPr lang="en-US" dirty="0"/>
              <a:t>Conclusion </a:t>
            </a:r>
          </a:p>
          <a:p>
            <a:pPr marL="285750" indent="-285750">
              <a:buFont typeface="Arial" panose="020B0604020202020204" pitchFamily="34" charset="0"/>
              <a:buChar char="•"/>
            </a:pPr>
            <a:r>
              <a:rPr lang="en-US" dirty="0"/>
              <a:t>Future Scope </a:t>
            </a:r>
          </a:p>
          <a:p>
            <a:pPr marL="285750" indent="-285750">
              <a:buFont typeface="Arial" panose="020B0604020202020204" pitchFamily="34" charset="0"/>
              <a:buChar char="•"/>
            </a:pPr>
            <a:r>
              <a:rPr lang="en-US" dirty="0"/>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96E6B-5F8A-D930-7F1C-A0D94259CC3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D08A688-453A-878D-2EC9-5A680C50E73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24F7F0B-067E-DB87-8CA5-8E34C9E97CF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3" name="TextBox 2">
            <a:extLst>
              <a:ext uri="{FF2B5EF4-FFF2-40B4-BE49-F238E27FC236}">
                <a16:creationId xmlns:a16="http://schemas.microsoft.com/office/drawing/2014/main" id="{180A4F76-E1A2-27CA-7458-71EB59CCFE84}"/>
              </a:ext>
            </a:extLst>
          </p:cNvPr>
          <p:cNvSpPr txBox="1"/>
          <p:nvPr/>
        </p:nvSpPr>
        <p:spPr>
          <a:xfrm>
            <a:off x="280416" y="1353312"/>
            <a:ext cx="8619744" cy="3693319"/>
          </a:xfrm>
          <a:prstGeom prst="rect">
            <a:avLst/>
          </a:prstGeom>
          <a:noFill/>
        </p:spPr>
        <p:txBody>
          <a:bodyPr wrap="square">
            <a:spAutoFit/>
          </a:bodyPr>
          <a:lstStyle/>
          <a:p>
            <a:pPr>
              <a:buNone/>
            </a:pPr>
            <a:r>
              <a:rPr lang="en-US" dirty="0"/>
              <a:t>Higher education institutions are increasingly focusing on the holistic development of students rather than limiting learning only to academics. Universities now encourage experiential learning, leadership development, and interpersonal skill enhancement through extracurricular activities.</a:t>
            </a:r>
          </a:p>
          <a:p>
            <a:pPr>
              <a:buNone/>
            </a:pPr>
            <a:endParaRPr lang="en-US" dirty="0"/>
          </a:p>
          <a:p>
            <a:pPr>
              <a:buNone/>
            </a:pPr>
            <a:r>
              <a:rPr lang="en-US" dirty="0"/>
              <a:t>Student clubs have emerged as an important platform for promoting student engagement beyond classrooms. These clubs provide opportunities for students to participate in technical, cultural, social, and leadership-based activities, helping them improve communication, teamwork, confidence, and time management skills.</a:t>
            </a:r>
          </a:p>
          <a:p>
            <a:pPr>
              <a:buNone/>
            </a:pPr>
            <a:endParaRPr lang="en-US" dirty="0"/>
          </a:p>
          <a:p>
            <a:pPr>
              <a:buNone/>
            </a:pPr>
            <a:r>
              <a:rPr lang="en-US" dirty="0"/>
              <a:t>At Chitkara University, the Office of Student Life plays a major role in organizing and supporting student engagement initiatives through various student clubs and activities.</a:t>
            </a:r>
          </a:p>
        </p:txBody>
      </p:sp>
    </p:spTree>
    <p:extLst>
      <p:ext uri="{BB962C8B-B14F-4D97-AF65-F5344CB8AC3E}">
        <p14:creationId xmlns:p14="http://schemas.microsoft.com/office/powerpoint/2010/main" val="3160169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97FD-C10E-FECF-F1D0-22B3F937124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8B61D9A-1647-6E23-E0B2-7A755F31E96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00D893E5-0AE3-3B73-90F5-1480FE7FFA1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2" name="AutoShape 2">
            <a:extLst>
              <a:ext uri="{FF2B5EF4-FFF2-40B4-BE49-F238E27FC236}">
                <a16:creationId xmlns:a16="http://schemas.microsoft.com/office/drawing/2014/main" id="{7B35B34E-AFED-4930-6A0E-BD21671F2C5D}"/>
              </a:ext>
            </a:extLst>
          </p:cNvPr>
          <p:cNvSpPr>
            <a:spLocks noChangeAspect="1" noChangeArrowheads="1"/>
          </p:cNvSpPr>
          <p:nvPr/>
        </p:nvSpPr>
        <p:spPr bwMode="auto">
          <a:xfrm>
            <a:off x="4419600" y="3276600"/>
            <a:ext cx="2334768" cy="23347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C978A2B7-470A-2492-9032-1D64BE8801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604" y="1148904"/>
            <a:ext cx="2638478" cy="4956927"/>
          </a:xfrm>
          <a:prstGeom prst="rect">
            <a:avLst/>
          </a:prstGeom>
        </p:spPr>
      </p:pic>
      <p:pic>
        <p:nvPicPr>
          <p:cNvPr id="15" name="Picture 14">
            <a:extLst>
              <a:ext uri="{FF2B5EF4-FFF2-40B4-BE49-F238E27FC236}">
                <a16:creationId xmlns:a16="http://schemas.microsoft.com/office/drawing/2014/main" id="{01F0A4D7-DBA8-9591-5A8C-1761B39201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1637" y="1168364"/>
            <a:ext cx="2155732" cy="4937467"/>
          </a:xfrm>
          <a:prstGeom prst="rect">
            <a:avLst/>
          </a:prstGeom>
        </p:spPr>
      </p:pic>
      <p:pic>
        <p:nvPicPr>
          <p:cNvPr id="17" name="Picture 16">
            <a:extLst>
              <a:ext uri="{FF2B5EF4-FFF2-40B4-BE49-F238E27FC236}">
                <a16:creationId xmlns:a16="http://schemas.microsoft.com/office/drawing/2014/main" id="{BB16A1A8-996B-24B4-623D-A89D97DBBD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01351" y="1168364"/>
            <a:ext cx="3653017" cy="2280282"/>
          </a:xfrm>
          <a:prstGeom prst="rect">
            <a:avLst/>
          </a:prstGeom>
        </p:spPr>
      </p:pic>
      <p:pic>
        <p:nvPicPr>
          <p:cNvPr id="19" name="Picture 18">
            <a:extLst>
              <a:ext uri="{FF2B5EF4-FFF2-40B4-BE49-F238E27FC236}">
                <a16:creationId xmlns:a16="http://schemas.microsoft.com/office/drawing/2014/main" id="{48E29036-E398-00A4-CCA7-D86B5FE269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2618" y="3689137"/>
            <a:ext cx="3653017" cy="2416694"/>
          </a:xfrm>
          <a:prstGeom prst="rect">
            <a:avLst/>
          </a:prstGeom>
        </p:spPr>
      </p:pic>
      <p:sp>
        <p:nvSpPr>
          <p:cNvPr id="20" name="TextShape 1">
            <a:extLst>
              <a:ext uri="{FF2B5EF4-FFF2-40B4-BE49-F238E27FC236}">
                <a16:creationId xmlns:a16="http://schemas.microsoft.com/office/drawing/2014/main" id="{C9C8C319-DBE9-0CBD-20FC-2F1EE70A03BA}"/>
              </a:ext>
            </a:extLst>
          </p:cNvPr>
          <p:cNvSpPr txBox="1"/>
          <p:nvPr/>
        </p:nvSpPr>
        <p:spPr>
          <a:xfrm>
            <a:off x="196645"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Glimses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7946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FCED-90BB-350E-8F10-FE5184988561}"/>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26AAE9F-C24C-7DFE-59B8-A3EB5E3A7FE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Glimses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63C9399-FFCF-B34D-F93F-21EC4E0B91C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pic>
        <p:nvPicPr>
          <p:cNvPr id="4" name="Picture 3">
            <a:extLst>
              <a:ext uri="{FF2B5EF4-FFF2-40B4-BE49-F238E27FC236}">
                <a16:creationId xmlns:a16="http://schemas.microsoft.com/office/drawing/2014/main" id="{268E9C66-3A27-3751-4699-54400C1EA2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24177" y="3433234"/>
            <a:ext cx="2147823" cy="2863763"/>
          </a:xfrm>
          <a:prstGeom prst="rect">
            <a:avLst/>
          </a:prstGeom>
        </p:spPr>
      </p:pic>
      <p:pic>
        <p:nvPicPr>
          <p:cNvPr id="5" name="Picture 4">
            <a:extLst>
              <a:ext uri="{FF2B5EF4-FFF2-40B4-BE49-F238E27FC236}">
                <a16:creationId xmlns:a16="http://schemas.microsoft.com/office/drawing/2014/main" id="{1F809A62-0600-1CB3-CFB6-4E945E7C1B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2919" y="3571568"/>
            <a:ext cx="2057706" cy="2743608"/>
          </a:xfrm>
          <a:prstGeom prst="rect">
            <a:avLst/>
          </a:prstGeom>
        </p:spPr>
      </p:pic>
      <p:pic>
        <p:nvPicPr>
          <p:cNvPr id="6" name="Picture 5">
            <a:extLst>
              <a:ext uri="{FF2B5EF4-FFF2-40B4-BE49-F238E27FC236}">
                <a16:creationId xmlns:a16="http://schemas.microsoft.com/office/drawing/2014/main" id="{ABB74227-19F3-FBBB-C7FB-658ABCCDB2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3386" y="907974"/>
            <a:ext cx="1997695" cy="2663594"/>
          </a:xfrm>
          <a:prstGeom prst="rect">
            <a:avLst/>
          </a:prstGeom>
        </p:spPr>
      </p:pic>
      <p:pic>
        <p:nvPicPr>
          <p:cNvPr id="7" name="Picture 6">
            <a:extLst>
              <a:ext uri="{FF2B5EF4-FFF2-40B4-BE49-F238E27FC236}">
                <a16:creationId xmlns:a16="http://schemas.microsoft.com/office/drawing/2014/main" id="{F572E136-7A2D-3AF0-110D-0C6458ECA7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48385" y="907974"/>
            <a:ext cx="2218149" cy="2957532"/>
          </a:xfrm>
          <a:prstGeom prst="rect">
            <a:avLst/>
          </a:prstGeom>
        </p:spPr>
      </p:pic>
    </p:spTree>
    <p:extLst>
      <p:ext uri="{BB962C8B-B14F-4D97-AF65-F5344CB8AC3E}">
        <p14:creationId xmlns:p14="http://schemas.microsoft.com/office/powerpoint/2010/main" val="2940617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9D52C-B574-0BD5-7556-B90279695DE0}"/>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6DBFA76-77A1-CD90-E396-AF54B3585C2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D296B22-314A-5E3A-1541-FABAB0DA4F3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3" name="TextBox 2">
            <a:extLst>
              <a:ext uri="{FF2B5EF4-FFF2-40B4-BE49-F238E27FC236}">
                <a16:creationId xmlns:a16="http://schemas.microsoft.com/office/drawing/2014/main" id="{B0941688-C736-F6B0-B73C-782AE8DCDD9E}"/>
              </a:ext>
            </a:extLst>
          </p:cNvPr>
          <p:cNvSpPr txBox="1"/>
          <p:nvPr/>
        </p:nvSpPr>
        <p:spPr>
          <a:xfrm>
            <a:off x="457200" y="1206467"/>
            <a:ext cx="8229240" cy="3139321"/>
          </a:xfrm>
          <a:prstGeom prst="rect">
            <a:avLst/>
          </a:prstGeom>
          <a:noFill/>
        </p:spPr>
        <p:txBody>
          <a:bodyPr wrap="square">
            <a:spAutoFit/>
          </a:bodyPr>
          <a:lstStyle/>
          <a:p>
            <a:pPr>
              <a:buNone/>
            </a:pPr>
            <a:r>
              <a:rPr lang="en-US" dirty="0"/>
              <a:t>Despite the increasing popularity of extracurricular activities, there remains a continuous debate regarding their impact on academic performance.</a:t>
            </a:r>
          </a:p>
          <a:p>
            <a:pPr>
              <a:buNone/>
            </a:pPr>
            <a:endParaRPr lang="en-US" dirty="0"/>
          </a:p>
          <a:p>
            <a:pPr>
              <a:buNone/>
            </a:pPr>
            <a:r>
              <a:rPr lang="en-US" dirty="0"/>
              <a:t>Some educators and students believe that participation in student clubs enhances productivity, leadership, and personal growth. However, others argue that excessive involvement in extracurricular activities may negatively affect academics and time management.</a:t>
            </a:r>
          </a:p>
          <a:p>
            <a:pPr>
              <a:buNone/>
            </a:pPr>
            <a:endParaRPr lang="en-US" dirty="0"/>
          </a:p>
          <a:p>
            <a:pPr>
              <a:buNone/>
            </a:pPr>
            <a:r>
              <a:rPr lang="en-US" dirty="0"/>
              <a:t>This study aims to examine the actual influence of student club participation on academic performance and overall student development using real data collected from undergraduate students.</a:t>
            </a:r>
          </a:p>
        </p:txBody>
      </p:sp>
    </p:spTree>
    <p:extLst>
      <p:ext uri="{BB962C8B-B14F-4D97-AF65-F5344CB8AC3E}">
        <p14:creationId xmlns:p14="http://schemas.microsoft.com/office/powerpoint/2010/main" val="422824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1031-B559-2B58-D517-428F9898212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A98352B-1E59-FF7D-4A0F-5AB83499EFBE}"/>
              </a:ext>
            </a:extLst>
          </p:cNvPr>
          <p:cNvSpPr txBox="1"/>
          <p:nvPr/>
        </p:nvSpPr>
        <p:spPr>
          <a:xfrm>
            <a:off x="128016"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Objectives of the Study</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6D72D22-0D4D-4DA1-0468-5EDD2950666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3" name="TextBox 2">
            <a:extLst>
              <a:ext uri="{FF2B5EF4-FFF2-40B4-BE49-F238E27FC236}">
                <a16:creationId xmlns:a16="http://schemas.microsoft.com/office/drawing/2014/main" id="{2F2FC9CD-57C8-449B-A9FD-5C443604CFED}"/>
              </a:ext>
            </a:extLst>
          </p:cNvPr>
          <p:cNvSpPr txBox="1"/>
          <p:nvPr/>
        </p:nvSpPr>
        <p:spPr>
          <a:xfrm>
            <a:off x="463296" y="1231393"/>
            <a:ext cx="8223144" cy="2585323"/>
          </a:xfrm>
          <a:prstGeom prst="rect">
            <a:avLst/>
          </a:prstGeom>
          <a:noFill/>
        </p:spPr>
        <p:txBody>
          <a:bodyPr wrap="square">
            <a:spAutoFit/>
          </a:bodyPr>
          <a:lstStyle/>
          <a:p>
            <a:pPr>
              <a:buNone/>
            </a:pPr>
            <a:r>
              <a:rPr lang="en-US" dirty="0"/>
              <a:t>The primary objective of this research is to analyze the influence of student club participation on academic performance and overall student development.</a:t>
            </a:r>
          </a:p>
          <a:p>
            <a:pPr>
              <a:buNone/>
            </a:pPr>
            <a:endParaRPr lang="en-US" dirty="0"/>
          </a:p>
          <a:p>
            <a:pPr>
              <a:buNone/>
            </a:pPr>
            <a:r>
              <a:rPr lang="en-US" dirty="0"/>
              <a:t>The study specifically focuses on:</a:t>
            </a:r>
          </a:p>
          <a:p>
            <a:pPr>
              <a:buNone/>
            </a:pPr>
            <a:endParaRPr lang="en-US" dirty="0"/>
          </a:p>
          <a:p>
            <a:pPr>
              <a:buNone/>
            </a:pPr>
            <a:r>
              <a:rPr lang="en-US" dirty="0"/>
              <a:t>1. Comparing academic performance of club participants and non-participants 2. Examining confidence and communication skill development</a:t>
            </a:r>
            <a:br>
              <a:rPr lang="en-US" dirty="0"/>
            </a:br>
            <a:r>
              <a:rPr lang="en-US" dirty="0"/>
              <a:t>3. Assessing teamwork and time management abilities</a:t>
            </a:r>
            <a:br>
              <a:rPr lang="en-US" dirty="0"/>
            </a:br>
            <a:r>
              <a:rPr lang="en-US" dirty="0"/>
              <a:t>4. Understanding the role of student engagement in holistic development</a:t>
            </a:r>
          </a:p>
        </p:txBody>
      </p:sp>
    </p:spTree>
    <p:extLst>
      <p:ext uri="{BB962C8B-B14F-4D97-AF65-F5344CB8AC3E}">
        <p14:creationId xmlns:p14="http://schemas.microsoft.com/office/powerpoint/2010/main" val="1787368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C94E4-E3FE-FDB8-3D31-1E696EF370A0}"/>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F0F2518-520C-575E-6CEC-525ADCC343A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Research Methodology</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3B3E6E6D-BD86-B1E8-7D0E-C4946FE3CE53}"/>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3" name="TextBox 2">
            <a:extLst>
              <a:ext uri="{FF2B5EF4-FFF2-40B4-BE49-F238E27FC236}">
                <a16:creationId xmlns:a16="http://schemas.microsoft.com/office/drawing/2014/main" id="{4E4B1684-65FC-5E78-32D7-CF6D254169AC}"/>
              </a:ext>
            </a:extLst>
          </p:cNvPr>
          <p:cNvSpPr txBox="1"/>
          <p:nvPr/>
        </p:nvSpPr>
        <p:spPr>
          <a:xfrm>
            <a:off x="182880" y="929468"/>
            <a:ext cx="8851392" cy="4801314"/>
          </a:xfrm>
          <a:prstGeom prst="rect">
            <a:avLst/>
          </a:prstGeom>
          <a:noFill/>
        </p:spPr>
        <p:txBody>
          <a:bodyPr wrap="square">
            <a:spAutoFit/>
          </a:bodyPr>
          <a:lstStyle/>
          <a:p>
            <a:pPr>
              <a:buNone/>
            </a:pPr>
            <a:r>
              <a:rPr lang="en-US" dirty="0"/>
              <a:t>The study adopts a quantitative survey-based research design to analyze the relationship between student club participation and student development.</a:t>
            </a:r>
          </a:p>
          <a:p>
            <a:pPr>
              <a:buNone/>
            </a:pPr>
            <a:endParaRPr lang="en-US" dirty="0"/>
          </a:p>
          <a:p>
            <a:pPr>
              <a:buNone/>
            </a:pPr>
            <a:r>
              <a:rPr lang="en-US" b="1" dirty="0"/>
              <a:t>Data Collection - </a:t>
            </a:r>
            <a:r>
              <a:rPr lang="en-US" dirty="0"/>
              <a:t>Structured Google Form Questionnaire </a:t>
            </a:r>
          </a:p>
          <a:p>
            <a:pPr>
              <a:buNone/>
            </a:pPr>
            <a:endParaRPr lang="en-US" dirty="0"/>
          </a:p>
          <a:p>
            <a:pPr>
              <a:buNone/>
            </a:pPr>
            <a:r>
              <a:rPr lang="en-US" b="1" dirty="0"/>
              <a:t>Sample Size - </a:t>
            </a:r>
            <a:r>
              <a:rPr lang="en-US" dirty="0"/>
              <a:t>111 Undergraduate Students </a:t>
            </a:r>
          </a:p>
          <a:p>
            <a:pPr>
              <a:buNone/>
            </a:pPr>
            <a:endParaRPr lang="en-US" dirty="0"/>
          </a:p>
          <a:p>
            <a:pPr>
              <a:buNone/>
            </a:pPr>
            <a:r>
              <a:rPr lang="en-US" b="1" dirty="0"/>
              <a:t>Sampling Technique - </a:t>
            </a:r>
            <a:r>
              <a:rPr lang="en-US" dirty="0"/>
              <a:t>Convenience Sampling </a:t>
            </a:r>
          </a:p>
          <a:p>
            <a:pPr>
              <a:buNone/>
            </a:pPr>
            <a:endParaRPr lang="en-US" dirty="0"/>
          </a:p>
          <a:p>
            <a:pPr>
              <a:buNone/>
            </a:pPr>
            <a:r>
              <a:rPr lang="en-US" b="1" dirty="0"/>
              <a:t>Tools Used: </a:t>
            </a:r>
          </a:p>
          <a:p>
            <a:pPr>
              <a:buFont typeface="Arial" panose="020B0604020202020204" pitchFamily="34" charset="0"/>
              <a:buChar char="•"/>
            </a:pPr>
            <a:r>
              <a:rPr lang="en-US" dirty="0"/>
              <a:t>Google Forms </a:t>
            </a:r>
          </a:p>
          <a:p>
            <a:pPr>
              <a:buFont typeface="Arial" panose="020B0604020202020204" pitchFamily="34" charset="0"/>
              <a:buChar char="•"/>
            </a:pPr>
            <a:r>
              <a:rPr lang="en-US" dirty="0"/>
              <a:t>Microsoft Excel </a:t>
            </a:r>
          </a:p>
          <a:p>
            <a:pPr>
              <a:buFont typeface="Arial" panose="020B0604020202020204" pitchFamily="34" charset="0"/>
              <a:buChar char="•"/>
            </a:pPr>
            <a:r>
              <a:rPr lang="en-US" dirty="0"/>
              <a:t>Statistical Analysis </a:t>
            </a:r>
          </a:p>
          <a:p>
            <a:pPr>
              <a:buFont typeface="Arial" panose="020B0604020202020204" pitchFamily="34" charset="0"/>
              <a:buChar char="•"/>
            </a:pPr>
            <a:r>
              <a:rPr lang="en-US" dirty="0"/>
              <a:t>Graphical Visualization </a:t>
            </a:r>
          </a:p>
          <a:p>
            <a:endParaRPr lang="en-US" dirty="0"/>
          </a:p>
          <a:p>
            <a:pPr>
              <a:buNone/>
            </a:pPr>
            <a:r>
              <a:rPr lang="en-US" dirty="0"/>
              <a:t>The collected data were analyzed using percentage analysis and comparative analysis methods.</a:t>
            </a:r>
          </a:p>
        </p:txBody>
      </p:sp>
    </p:spTree>
    <p:extLst>
      <p:ext uri="{BB962C8B-B14F-4D97-AF65-F5344CB8AC3E}">
        <p14:creationId xmlns:p14="http://schemas.microsoft.com/office/powerpoint/2010/main" val="1900368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0C07-20BF-00B8-7C05-AE05A3658F90}"/>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2774F44-F957-B936-7C5D-C14D42DB6A8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Parti</a:t>
            </a:r>
            <a:r>
              <a:rPr lang="en" sz="3200" spc="-1" dirty="0">
                <a:solidFill>
                  <a:srgbClr val="000000"/>
                </a:solidFill>
                <a:latin typeface="Times New Roman" panose="02020603050405020304" pitchFamily="18" charset="0"/>
                <a:cs typeface="Times New Roman" panose="02020603050405020304" pitchFamily="18" charset="0"/>
              </a:rPr>
              <a:t>cipation Overview</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9F5F5CF-1300-F817-DF6F-6B0BC539EC5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3" name="TextBox 2">
            <a:extLst>
              <a:ext uri="{FF2B5EF4-FFF2-40B4-BE49-F238E27FC236}">
                <a16:creationId xmlns:a16="http://schemas.microsoft.com/office/drawing/2014/main" id="{27BD4D75-AA54-4D84-DDE6-C5089B9F25AF}"/>
              </a:ext>
            </a:extLst>
          </p:cNvPr>
          <p:cNvSpPr txBox="1"/>
          <p:nvPr/>
        </p:nvSpPr>
        <p:spPr>
          <a:xfrm>
            <a:off x="457200" y="1621965"/>
            <a:ext cx="8229240" cy="3416320"/>
          </a:xfrm>
          <a:prstGeom prst="rect">
            <a:avLst/>
          </a:prstGeom>
          <a:noFill/>
        </p:spPr>
        <p:txBody>
          <a:bodyPr wrap="square">
            <a:spAutoFit/>
          </a:bodyPr>
          <a:lstStyle/>
          <a:p>
            <a:pPr>
              <a:buNone/>
            </a:pPr>
            <a:r>
              <a:rPr lang="en-US" dirty="0"/>
              <a:t>The survey results indicate a strong culture of student engagement within the university. A majority of students reported active involvement in student clubs and extracurricular activities.</a:t>
            </a:r>
          </a:p>
          <a:p>
            <a:pPr>
              <a:buNone/>
            </a:pPr>
            <a:endParaRPr lang="en-US" dirty="0"/>
          </a:p>
          <a:p>
            <a:pPr>
              <a:buNone/>
            </a:pPr>
            <a:r>
              <a:rPr lang="en-US" b="1" dirty="0"/>
              <a:t>Key Findings: </a:t>
            </a:r>
          </a:p>
          <a:p>
            <a:pPr>
              <a:buNone/>
            </a:pPr>
            <a:endParaRPr lang="en-US" b="1" dirty="0"/>
          </a:p>
          <a:p>
            <a:pPr>
              <a:buFont typeface="Arial" panose="020B0604020202020204" pitchFamily="34" charset="0"/>
              <a:buChar char="•"/>
            </a:pPr>
            <a:r>
              <a:rPr lang="en-US" dirty="0"/>
              <a:t>87.4% students actively participate in clubs </a:t>
            </a:r>
          </a:p>
          <a:p>
            <a:pPr>
              <a:buFont typeface="Arial" panose="020B0604020202020204" pitchFamily="34" charset="0"/>
              <a:buChar char="•"/>
            </a:pPr>
            <a:r>
              <a:rPr lang="en-US" dirty="0"/>
              <a:t>12.6% students are non-participants </a:t>
            </a:r>
          </a:p>
          <a:p>
            <a:pPr>
              <a:buFont typeface="Arial" panose="020B0604020202020204" pitchFamily="34" charset="0"/>
              <a:buChar char="•"/>
            </a:pPr>
            <a:endParaRPr lang="en-US" dirty="0"/>
          </a:p>
          <a:p>
            <a:endParaRPr lang="en-US" dirty="0"/>
          </a:p>
          <a:p>
            <a:pPr>
              <a:buNone/>
            </a:pPr>
            <a:r>
              <a:rPr lang="en-US" dirty="0"/>
              <a:t>The findings demonstrate that student clubs play a significant role in promoting engagement and participation beyond classrooms.</a:t>
            </a:r>
          </a:p>
        </p:txBody>
      </p:sp>
    </p:spTree>
    <p:extLst>
      <p:ext uri="{BB962C8B-B14F-4D97-AF65-F5344CB8AC3E}">
        <p14:creationId xmlns:p14="http://schemas.microsoft.com/office/powerpoint/2010/main" val="3188259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A89E-D71F-1CB2-3EFE-80E8FDC01D0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DF2434F-E0F0-0E1F-3BC4-1DFF60DD3E2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Parti</a:t>
            </a:r>
            <a:r>
              <a:rPr lang="en" sz="3200" spc="-1" dirty="0">
                <a:solidFill>
                  <a:srgbClr val="000000"/>
                </a:solidFill>
                <a:latin typeface="Times New Roman" panose="02020603050405020304" pitchFamily="18" charset="0"/>
                <a:cs typeface="Times New Roman" panose="02020603050405020304" pitchFamily="18" charset="0"/>
              </a:rPr>
              <a:t>cipation Overview</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1AEF9DD-A9C9-7E15-BEEF-A1C2845CFF0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pic>
        <p:nvPicPr>
          <p:cNvPr id="6" name="Picture 5">
            <a:extLst>
              <a:ext uri="{FF2B5EF4-FFF2-40B4-BE49-F238E27FC236}">
                <a16:creationId xmlns:a16="http://schemas.microsoft.com/office/drawing/2014/main" id="{9896EDCC-B220-2204-BE07-8DE418D65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143000"/>
            <a:ext cx="6096000" cy="4572000"/>
          </a:xfrm>
          <a:prstGeom prst="rect">
            <a:avLst/>
          </a:prstGeom>
        </p:spPr>
      </p:pic>
    </p:spTree>
    <p:extLst>
      <p:ext uri="{BB962C8B-B14F-4D97-AF65-F5344CB8AC3E}">
        <p14:creationId xmlns:p14="http://schemas.microsoft.com/office/powerpoint/2010/main" val="3057979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56B5-C308-93A1-C1DE-AA8EAEC3B7A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0760019-9ED4-2CB6-BE02-6BA1ADF3D800}"/>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Academic Performance Analysis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EC1FFB00-B663-0A8B-3B7C-273A367A5EE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3" name="TextBox 2">
            <a:extLst>
              <a:ext uri="{FF2B5EF4-FFF2-40B4-BE49-F238E27FC236}">
                <a16:creationId xmlns:a16="http://schemas.microsoft.com/office/drawing/2014/main" id="{D9A6A091-F4B5-84BD-BF55-A7596A99E160}"/>
              </a:ext>
            </a:extLst>
          </p:cNvPr>
          <p:cNvSpPr txBox="1"/>
          <p:nvPr/>
        </p:nvSpPr>
        <p:spPr>
          <a:xfrm>
            <a:off x="457200" y="1206467"/>
            <a:ext cx="8229240" cy="3970318"/>
          </a:xfrm>
          <a:prstGeom prst="rect">
            <a:avLst/>
          </a:prstGeom>
          <a:noFill/>
        </p:spPr>
        <p:txBody>
          <a:bodyPr wrap="square">
            <a:spAutoFit/>
          </a:bodyPr>
          <a:lstStyle/>
          <a:p>
            <a:pPr>
              <a:buNone/>
            </a:pPr>
            <a:r>
              <a:rPr lang="en-US" dirty="0"/>
              <a:t>One of the major objectives of the study was to examine whether student club participation affects academic performance.</a:t>
            </a:r>
          </a:p>
          <a:p>
            <a:pPr>
              <a:buNone/>
            </a:pPr>
            <a:endParaRPr lang="en-US" dirty="0"/>
          </a:p>
          <a:p>
            <a:pPr>
              <a:buNone/>
            </a:pPr>
            <a:r>
              <a:rPr lang="en-US" dirty="0"/>
              <a:t>The findings reveal that extracurricular involvement does not negatively impact academics. A large proportion of students maintained high academic achievement while actively participating in clubs.</a:t>
            </a:r>
          </a:p>
          <a:p>
            <a:pPr>
              <a:buNone/>
            </a:pPr>
            <a:endParaRPr lang="en-US" dirty="0"/>
          </a:p>
          <a:p>
            <a:pPr>
              <a:buNone/>
            </a:pPr>
            <a:r>
              <a:rPr lang="en-US" b="1" dirty="0"/>
              <a:t>Key Statistics: </a:t>
            </a:r>
          </a:p>
          <a:p>
            <a:pPr>
              <a:buNone/>
            </a:pPr>
            <a:endParaRPr lang="en-US" b="1" dirty="0"/>
          </a:p>
          <a:p>
            <a:pPr>
              <a:buFont typeface="Arial" panose="020B0604020202020204" pitchFamily="34" charset="0"/>
              <a:buChar char="•"/>
            </a:pPr>
            <a:r>
              <a:rPr lang="en-US" dirty="0"/>
              <a:t>45.9% students reported CGPA above 9.0 </a:t>
            </a:r>
          </a:p>
          <a:p>
            <a:pPr>
              <a:buFont typeface="Arial" panose="020B0604020202020204" pitchFamily="34" charset="0"/>
              <a:buChar char="•"/>
            </a:pPr>
            <a:r>
              <a:rPr lang="en-US" dirty="0"/>
              <a:t>29.7% students reported CGPA between 8.0–8.99 </a:t>
            </a:r>
          </a:p>
          <a:p>
            <a:endParaRPr lang="en-US" dirty="0"/>
          </a:p>
          <a:p>
            <a:pPr>
              <a:buNone/>
            </a:pPr>
            <a:r>
              <a:rPr lang="en-US" dirty="0"/>
              <a:t>The results indicate that students are capable of balancing academic and extracurricular responsibilities effectively.</a:t>
            </a:r>
          </a:p>
        </p:txBody>
      </p:sp>
    </p:spTree>
    <p:extLst>
      <p:ext uri="{BB962C8B-B14F-4D97-AF65-F5344CB8AC3E}">
        <p14:creationId xmlns:p14="http://schemas.microsoft.com/office/powerpoint/2010/main" val="1917363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D1D9-8B57-366D-B177-AE8047678D8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89A59FF-0B44-F005-C678-AA8BC4FA3F5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Academic Performance Analysis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7CCC1FB-F976-5A5D-F3CC-9BAA59D041A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pic>
        <p:nvPicPr>
          <p:cNvPr id="4" name="Picture 3">
            <a:extLst>
              <a:ext uri="{FF2B5EF4-FFF2-40B4-BE49-F238E27FC236}">
                <a16:creationId xmlns:a16="http://schemas.microsoft.com/office/drawing/2014/main" id="{BDD9AA5A-419B-9273-B190-25C5E452E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143000"/>
            <a:ext cx="6096000" cy="4572000"/>
          </a:xfrm>
          <a:prstGeom prst="rect">
            <a:avLst/>
          </a:prstGeom>
        </p:spPr>
      </p:pic>
    </p:spTree>
    <p:extLst>
      <p:ext uri="{BB962C8B-B14F-4D97-AF65-F5344CB8AC3E}">
        <p14:creationId xmlns:p14="http://schemas.microsoft.com/office/powerpoint/2010/main" val="70821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6698D-2F58-3D16-5CE7-1279099B62CD}"/>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4616C71-96CF-B32C-68BB-BA030970177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000" b="0" strike="noStrike" spc="-1" dirty="0">
                <a:solidFill>
                  <a:srgbClr val="000000"/>
                </a:solidFill>
                <a:latin typeface="Times New Roman" panose="02020603050405020304" pitchFamily="18" charset="0"/>
                <a:cs typeface="Times New Roman" panose="02020603050405020304" pitchFamily="18" charset="0"/>
              </a:rPr>
              <a:t>Confidence and Communication Skills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76E2319-6EA3-392B-EB19-DA509808502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3" name="TextBox 2">
            <a:extLst>
              <a:ext uri="{FF2B5EF4-FFF2-40B4-BE49-F238E27FC236}">
                <a16:creationId xmlns:a16="http://schemas.microsoft.com/office/drawing/2014/main" id="{8FA2CAED-E5FC-9373-FE03-F010A6428DC5}"/>
              </a:ext>
            </a:extLst>
          </p:cNvPr>
          <p:cNvSpPr txBox="1"/>
          <p:nvPr/>
        </p:nvSpPr>
        <p:spPr>
          <a:xfrm>
            <a:off x="457200" y="1127219"/>
            <a:ext cx="8229240" cy="4524315"/>
          </a:xfrm>
          <a:prstGeom prst="rect">
            <a:avLst/>
          </a:prstGeom>
          <a:noFill/>
        </p:spPr>
        <p:txBody>
          <a:bodyPr wrap="square">
            <a:spAutoFit/>
          </a:bodyPr>
          <a:lstStyle/>
          <a:p>
            <a:pPr>
              <a:buNone/>
            </a:pPr>
            <a:r>
              <a:rPr lang="en-US" dirty="0"/>
              <a:t>The study demonstrates that participation in student clubs positively contributes to confidence building and communication skill enhancement.</a:t>
            </a:r>
          </a:p>
          <a:p>
            <a:pPr>
              <a:buNone/>
            </a:pPr>
            <a:endParaRPr lang="en-US" dirty="0"/>
          </a:p>
          <a:p>
            <a:pPr>
              <a:buNone/>
            </a:pPr>
            <a:r>
              <a:rPr lang="en-US" dirty="0"/>
              <a:t>Students reported improved confidence due to participation in:</a:t>
            </a:r>
          </a:p>
          <a:p>
            <a:pPr>
              <a:buNone/>
            </a:pPr>
            <a:endParaRPr lang="en-US" dirty="0"/>
          </a:p>
          <a:p>
            <a:pPr>
              <a:buFont typeface="Arial" panose="020B0604020202020204" pitchFamily="34" charset="0"/>
              <a:buChar char="•"/>
            </a:pPr>
            <a:r>
              <a:rPr lang="en-US" dirty="0"/>
              <a:t>Leadership activities </a:t>
            </a:r>
          </a:p>
          <a:p>
            <a:pPr>
              <a:buFont typeface="Arial" panose="020B0604020202020204" pitchFamily="34" charset="0"/>
              <a:buChar char="•"/>
            </a:pPr>
            <a:r>
              <a:rPr lang="en-US" dirty="0"/>
              <a:t>Event management </a:t>
            </a:r>
          </a:p>
          <a:p>
            <a:pPr>
              <a:buFont typeface="Arial" panose="020B0604020202020204" pitchFamily="34" charset="0"/>
              <a:buChar char="•"/>
            </a:pPr>
            <a:r>
              <a:rPr lang="en-US" dirty="0"/>
              <a:t>Public speaking </a:t>
            </a:r>
          </a:p>
          <a:p>
            <a:pPr>
              <a:buFont typeface="Arial" panose="020B0604020202020204" pitchFamily="34" charset="0"/>
              <a:buChar char="•"/>
            </a:pPr>
            <a:r>
              <a:rPr lang="en-US" dirty="0"/>
              <a:t>Team interactions </a:t>
            </a:r>
          </a:p>
          <a:p>
            <a:endParaRPr lang="en-US" dirty="0"/>
          </a:p>
          <a:p>
            <a:pPr>
              <a:buNone/>
            </a:pPr>
            <a:r>
              <a:rPr lang="en-US" dirty="0"/>
              <a:t>Communication skills improved through presentations, networking, and collaborative activities.</a:t>
            </a:r>
          </a:p>
          <a:p>
            <a:pPr>
              <a:buNone/>
            </a:pPr>
            <a:endParaRPr lang="en-US" dirty="0"/>
          </a:p>
          <a:p>
            <a:pPr>
              <a:buNone/>
            </a:pPr>
            <a:r>
              <a:rPr lang="en-US" b="1" dirty="0"/>
              <a:t>Average Scores</a:t>
            </a:r>
          </a:p>
          <a:p>
            <a:pPr>
              <a:buFont typeface="Arial" panose="020B0604020202020204" pitchFamily="34" charset="0"/>
              <a:buChar char="•"/>
            </a:pPr>
            <a:r>
              <a:rPr lang="en-US" dirty="0"/>
              <a:t>Confidence Level → 4.2 / 5 </a:t>
            </a:r>
          </a:p>
          <a:p>
            <a:pPr>
              <a:buFont typeface="Arial" panose="020B0604020202020204" pitchFamily="34" charset="0"/>
              <a:buChar char="•"/>
            </a:pPr>
            <a:r>
              <a:rPr lang="en-US" dirty="0"/>
              <a:t>Communication Skills → 4.3 / 5</a:t>
            </a:r>
          </a:p>
        </p:txBody>
      </p:sp>
    </p:spTree>
    <p:extLst>
      <p:ext uri="{BB962C8B-B14F-4D97-AF65-F5344CB8AC3E}">
        <p14:creationId xmlns:p14="http://schemas.microsoft.com/office/powerpoint/2010/main" val="1251215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FAD57-4CC3-59A2-DFA2-45E380C55CF1}"/>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B6BEA97-D394-DFA5-397E-FA3623737CB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Teamwork and Team Management </a:t>
            </a:r>
          </a:p>
        </p:txBody>
      </p:sp>
      <p:sp>
        <p:nvSpPr>
          <p:cNvPr id="110" name="TextShape 3">
            <a:extLst>
              <a:ext uri="{FF2B5EF4-FFF2-40B4-BE49-F238E27FC236}">
                <a16:creationId xmlns:a16="http://schemas.microsoft.com/office/drawing/2014/main" id="{D1E4AE13-5A43-CC91-6B1B-A5A6344A4273}"/>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
        <p:nvSpPr>
          <p:cNvPr id="3" name="TextBox 2">
            <a:extLst>
              <a:ext uri="{FF2B5EF4-FFF2-40B4-BE49-F238E27FC236}">
                <a16:creationId xmlns:a16="http://schemas.microsoft.com/office/drawing/2014/main" id="{5A4C0ABB-92DB-106A-3739-471A9316DF7E}"/>
              </a:ext>
            </a:extLst>
          </p:cNvPr>
          <p:cNvSpPr txBox="1"/>
          <p:nvPr/>
        </p:nvSpPr>
        <p:spPr>
          <a:xfrm>
            <a:off x="457200" y="1344966"/>
            <a:ext cx="8229240" cy="3693319"/>
          </a:xfrm>
          <a:prstGeom prst="rect">
            <a:avLst/>
          </a:prstGeom>
          <a:noFill/>
        </p:spPr>
        <p:txBody>
          <a:bodyPr wrap="square">
            <a:spAutoFit/>
          </a:bodyPr>
          <a:lstStyle/>
          <a:p>
            <a:pPr>
              <a:buNone/>
            </a:pPr>
            <a:r>
              <a:rPr lang="en-US" dirty="0"/>
              <a:t>Student clubs encourage students to work collaboratively on projects, events, and organizational activities. As a result, participants develop stronger teamwork and coordination abilities.</a:t>
            </a:r>
          </a:p>
          <a:p>
            <a:pPr>
              <a:buNone/>
            </a:pPr>
            <a:endParaRPr lang="en-US" dirty="0"/>
          </a:p>
          <a:p>
            <a:pPr>
              <a:buNone/>
            </a:pPr>
            <a:r>
              <a:rPr lang="en-US" dirty="0"/>
              <a:t>The findings also indicate that club participation improves time management skills and productivity.</a:t>
            </a:r>
          </a:p>
          <a:p>
            <a:pPr>
              <a:buNone/>
            </a:pPr>
            <a:endParaRPr lang="en-US" dirty="0"/>
          </a:p>
          <a:p>
            <a:pPr>
              <a:buNone/>
            </a:pPr>
            <a:r>
              <a:rPr lang="en-US" b="1" dirty="0"/>
              <a:t>Average Scores:</a:t>
            </a:r>
          </a:p>
          <a:p>
            <a:pPr>
              <a:buFont typeface="Arial" panose="020B0604020202020204" pitchFamily="34" charset="0"/>
              <a:buChar char="•"/>
            </a:pPr>
            <a:r>
              <a:rPr lang="en-US" dirty="0"/>
              <a:t>Teamwork → 4.4 / 5 </a:t>
            </a:r>
          </a:p>
          <a:p>
            <a:pPr>
              <a:buFont typeface="Arial" panose="020B0604020202020204" pitchFamily="34" charset="0"/>
              <a:buChar char="•"/>
            </a:pPr>
            <a:r>
              <a:rPr lang="en-US" dirty="0"/>
              <a:t>Time Management → 4.1 / 5 </a:t>
            </a:r>
          </a:p>
          <a:p>
            <a:endParaRPr lang="en-US" dirty="0"/>
          </a:p>
          <a:p>
            <a:pPr>
              <a:buNone/>
            </a:pPr>
            <a:r>
              <a:rPr lang="en-US" dirty="0"/>
              <a:t>The study suggests that extracurricular involvement helps students effectively balance academics and non-academic responsibilities.</a:t>
            </a:r>
          </a:p>
        </p:txBody>
      </p:sp>
    </p:spTree>
    <p:extLst>
      <p:ext uri="{BB962C8B-B14F-4D97-AF65-F5344CB8AC3E}">
        <p14:creationId xmlns:p14="http://schemas.microsoft.com/office/powerpoint/2010/main" val="1437782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56047-27A6-1BC7-44D0-3FE2765A12B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3A20A3D-50D2-E449-A774-FB693744071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Average Skill Development</a:t>
            </a:r>
          </a:p>
        </p:txBody>
      </p:sp>
      <p:sp>
        <p:nvSpPr>
          <p:cNvPr id="110" name="TextShape 3">
            <a:extLst>
              <a:ext uri="{FF2B5EF4-FFF2-40B4-BE49-F238E27FC236}">
                <a16:creationId xmlns:a16="http://schemas.microsoft.com/office/drawing/2014/main" id="{158EE4C5-B656-8B23-F5B1-EA880962285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GB" sz="1200" b="0" strike="noStrike" spc="-1">
              <a:latin typeface="Times New Roman"/>
            </a:endParaRPr>
          </a:p>
        </p:txBody>
      </p:sp>
      <p:pic>
        <p:nvPicPr>
          <p:cNvPr id="4" name="Picture 3">
            <a:extLst>
              <a:ext uri="{FF2B5EF4-FFF2-40B4-BE49-F238E27FC236}">
                <a16:creationId xmlns:a16="http://schemas.microsoft.com/office/drawing/2014/main" id="{F9A1DD43-5026-A12C-1801-1F25C6A6A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143000"/>
            <a:ext cx="6096000" cy="4572000"/>
          </a:xfrm>
          <a:prstGeom prst="rect">
            <a:avLst/>
          </a:prstGeom>
        </p:spPr>
      </p:pic>
    </p:spTree>
    <p:extLst>
      <p:ext uri="{BB962C8B-B14F-4D97-AF65-F5344CB8AC3E}">
        <p14:creationId xmlns:p14="http://schemas.microsoft.com/office/powerpoint/2010/main" val="2072037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E4E15-8A8B-09E0-FDA2-1B0B52C9CFD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A87873D-E6A8-3CE6-32C9-CCE5B11AB00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Major Findings</a:t>
            </a:r>
          </a:p>
        </p:txBody>
      </p:sp>
      <p:sp>
        <p:nvSpPr>
          <p:cNvPr id="110" name="TextShape 3">
            <a:extLst>
              <a:ext uri="{FF2B5EF4-FFF2-40B4-BE49-F238E27FC236}">
                <a16:creationId xmlns:a16="http://schemas.microsoft.com/office/drawing/2014/main" id="{735C2364-63AD-6881-34EA-988CC25F2247}"/>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
        <p:nvSpPr>
          <p:cNvPr id="3" name="TextBox 2">
            <a:extLst>
              <a:ext uri="{FF2B5EF4-FFF2-40B4-BE49-F238E27FC236}">
                <a16:creationId xmlns:a16="http://schemas.microsoft.com/office/drawing/2014/main" id="{71426BA9-D248-2F64-82E6-DB849F2CA335}"/>
              </a:ext>
            </a:extLst>
          </p:cNvPr>
          <p:cNvSpPr txBox="1"/>
          <p:nvPr/>
        </p:nvSpPr>
        <p:spPr>
          <a:xfrm>
            <a:off x="457200" y="1483465"/>
            <a:ext cx="8321040" cy="3416320"/>
          </a:xfrm>
          <a:prstGeom prst="rect">
            <a:avLst/>
          </a:prstGeom>
          <a:noFill/>
        </p:spPr>
        <p:txBody>
          <a:bodyPr wrap="square">
            <a:spAutoFit/>
          </a:bodyPr>
          <a:lstStyle/>
          <a:p>
            <a:pPr>
              <a:buNone/>
            </a:pPr>
            <a:r>
              <a:rPr lang="en-US" dirty="0"/>
              <a:t>The research findings clearly indicate that student club participation contributes positively to both academic and personal development.</a:t>
            </a:r>
          </a:p>
          <a:p>
            <a:pPr>
              <a:buNone/>
            </a:pPr>
            <a:endParaRPr lang="en-US" dirty="0"/>
          </a:p>
          <a:p>
            <a:pPr>
              <a:buNone/>
            </a:pPr>
            <a:r>
              <a:rPr lang="en-US" b="1" dirty="0"/>
              <a:t>Key Outcomes</a:t>
            </a:r>
          </a:p>
          <a:p>
            <a:r>
              <a:rPr lang="en-US" dirty="0"/>
              <a:t>1. Improved communication skills</a:t>
            </a:r>
            <a:br>
              <a:rPr lang="en-US" dirty="0"/>
            </a:br>
            <a:r>
              <a:rPr lang="en-US" dirty="0"/>
              <a:t>2. Higher confidence levels</a:t>
            </a:r>
            <a:br>
              <a:rPr lang="en-US" dirty="0"/>
            </a:br>
            <a:r>
              <a:rPr lang="en-US" dirty="0"/>
              <a:t>3. Better teamwork abilities</a:t>
            </a:r>
            <a:br>
              <a:rPr lang="en-US" dirty="0"/>
            </a:br>
            <a:r>
              <a:rPr lang="en-US" dirty="0"/>
              <a:t>4. Enhanced time management</a:t>
            </a:r>
            <a:br>
              <a:rPr lang="en-US" dirty="0"/>
            </a:br>
            <a:r>
              <a:rPr lang="en-US" dirty="0"/>
              <a:t>5. Strong academic performance despite extracurricular involvement</a:t>
            </a:r>
          </a:p>
          <a:p>
            <a:endParaRPr lang="en-US" dirty="0"/>
          </a:p>
          <a:p>
            <a:pPr>
              <a:buNone/>
            </a:pPr>
            <a:r>
              <a:rPr lang="en-US" dirty="0"/>
              <a:t>Overall, the findings demonstrate that student clubs are important platforms for holistic student development.</a:t>
            </a:r>
          </a:p>
        </p:txBody>
      </p:sp>
    </p:spTree>
    <p:extLst>
      <p:ext uri="{BB962C8B-B14F-4D97-AF65-F5344CB8AC3E}">
        <p14:creationId xmlns:p14="http://schemas.microsoft.com/office/powerpoint/2010/main" val="1623628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6CD4-BA01-F08E-96ED-530A0E2019B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3905DAA-A6BA-83A8-C8EE-D63B0239C13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spc="-1" dirty="0">
                <a:solidFill>
                  <a:srgbClr val="000000"/>
                </a:solidFill>
                <a:latin typeface="Times New Roman" panose="02020603050405020304" pitchFamily="18" charset="0"/>
                <a:cs typeface="Times New Roman" panose="02020603050405020304" pitchFamily="18" charset="0"/>
              </a:rPr>
              <a:t>Conclusion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DA202DA-4E08-91A8-4510-B3ED75B1C12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17</a:t>
            </a:fld>
            <a:endParaRPr lang="en-GB" sz="1200" b="0" strike="noStrike" spc="-1">
              <a:latin typeface="Times New Roman"/>
            </a:endParaRPr>
          </a:p>
        </p:txBody>
      </p:sp>
      <p:sp>
        <p:nvSpPr>
          <p:cNvPr id="3" name="TextBox 2">
            <a:extLst>
              <a:ext uri="{FF2B5EF4-FFF2-40B4-BE49-F238E27FC236}">
                <a16:creationId xmlns:a16="http://schemas.microsoft.com/office/drawing/2014/main" id="{232F2AD9-41E0-A345-FBEB-693C8AEB1D67}"/>
              </a:ext>
            </a:extLst>
          </p:cNvPr>
          <p:cNvSpPr txBox="1"/>
          <p:nvPr/>
        </p:nvSpPr>
        <p:spPr>
          <a:xfrm>
            <a:off x="457200" y="1483465"/>
            <a:ext cx="8345424" cy="3139321"/>
          </a:xfrm>
          <a:prstGeom prst="rect">
            <a:avLst/>
          </a:prstGeom>
          <a:noFill/>
        </p:spPr>
        <p:txBody>
          <a:bodyPr wrap="square">
            <a:spAutoFit/>
          </a:bodyPr>
          <a:lstStyle/>
          <a:p>
            <a:pPr>
              <a:buNone/>
            </a:pPr>
            <a:r>
              <a:rPr lang="en-US" dirty="0"/>
              <a:t>The study concludes that student club participation positively influences overall student development without adversely affecting academic performance.</a:t>
            </a:r>
          </a:p>
          <a:p>
            <a:pPr>
              <a:buNone/>
            </a:pPr>
            <a:endParaRPr lang="en-US" dirty="0"/>
          </a:p>
          <a:p>
            <a:pPr>
              <a:buNone/>
            </a:pPr>
            <a:r>
              <a:rPr lang="en-US" dirty="0"/>
              <a:t>Students actively participating in clubs demonstrated:</a:t>
            </a:r>
          </a:p>
          <a:p>
            <a:pPr>
              <a:buFont typeface="Arial" panose="020B0604020202020204" pitchFamily="34" charset="0"/>
              <a:buChar char="•"/>
            </a:pPr>
            <a:r>
              <a:rPr lang="en-US" dirty="0"/>
              <a:t>Better communication skills </a:t>
            </a:r>
          </a:p>
          <a:p>
            <a:pPr>
              <a:buFont typeface="Arial" panose="020B0604020202020204" pitchFamily="34" charset="0"/>
              <a:buChar char="•"/>
            </a:pPr>
            <a:r>
              <a:rPr lang="en-US" dirty="0"/>
              <a:t>Stronger teamwork abilities </a:t>
            </a:r>
          </a:p>
          <a:p>
            <a:pPr>
              <a:buFont typeface="Arial" panose="020B0604020202020204" pitchFamily="34" charset="0"/>
              <a:buChar char="•"/>
            </a:pPr>
            <a:r>
              <a:rPr lang="en-US" dirty="0"/>
              <a:t>Improved confidence levels </a:t>
            </a:r>
          </a:p>
          <a:p>
            <a:pPr>
              <a:buFont typeface="Arial" panose="020B0604020202020204" pitchFamily="34" charset="0"/>
              <a:buChar char="•"/>
            </a:pPr>
            <a:r>
              <a:rPr lang="en-US" dirty="0"/>
              <a:t>Effective time management practices </a:t>
            </a:r>
          </a:p>
          <a:p>
            <a:endParaRPr lang="en-US" dirty="0"/>
          </a:p>
          <a:p>
            <a:pPr>
              <a:buNone/>
            </a:pPr>
            <a:r>
              <a:rPr lang="en-US" dirty="0"/>
              <a:t>The findings highlight the importance of structured student engagement initiatives in preparing students for future academic and professional challenges.</a:t>
            </a:r>
          </a:p>
        </p:txBody>
      </p:sp>
    </p:spTree>
    <p:extLst>
      <p:ext uri="{BB962C8B-B14F-4D97-AF65-F5344CB8AC3E}">
        <p14:creationId xmlns:p14="http://schemas.microsoft.com/office/powerpoint/2010/main" val="3123601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453D-A88D-7F24-5F03-0DD25D1D7C6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E654A1C-CE78-99CE-F0C7-0C3F1BC287F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spc="-1" dirty="0">
                <a:solidFill>
                  <a:srgbClr val="000000"/>
                </a:solidFill>
                <a:latin typeface="Times New Roman" panose="02020603050405020304" pitchFamily="18" charset="0"/>
                <a:cs typeface="Times New Roman" panose="02020603050405020304" pitchFamily="18" charset="0"/>
              </a:rPr>
              <a:t>Future Scope </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0DFD8B84-CCBE-FFE9-CF4F-CD34A20BAB36}"/>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18</a:t>
            </a:fld>
            <a:endParaRPr lang="en-GB" sz="1200" b="0" strike="noStrike" spc="-1">
              <a:latin typeface="Times New Roman"/>
            </a:endParaRPr>
          </a:p>
        </p:txBody>
      </p:sp>
      <p:sp>
        <p:nvSpPr>
          <p:cNvPr id="3" name="TextBox 2">
            <a:extLst>
              <a:ext uri="{FF2B5EF4-FFF2-40B4-BE49-F238E27FC236}">
                <a16:creationId xmlns:a16="http://schemas.microsoft.com/office/drawing/2014/main" id="{385E6C12-EA33-5191-7971-D035B31C9014}"/>
              </a:ext>
            </a:extLst>
          </p:cNvPr>
          <p:cNvSpPr txBox="1"/>
          <p:nvPr/>
        </p:nvSpPr>
        <p:spPr>
          <a:xfrm>
            <a:off x="457200" y="1760464"/>
            <a:ext cx="8229240" cy="2862322"/>
          </a:xfrm>
          <a:prstGeom prst="rect">
            <a:avLst/>
          </a:prstGeom>
          <a:noFill/>
        </p:spPr>
        <p:txBody>
          <a:bodyPr wrap="square">
            <a:spAutoFit/>
          </a:bodyPr>
          <a:lstStyle/>
          <a:p>
            <a:pPr>
              <a:buNone/>
            </a:pPr>
            <a:r>
              <a:rPr lang="en-US" dirty="0"/>
              <a:t>Although the present study provides valuable insights, future research can further expand the scope by including:</a:t>
            </a:r>
          </a:p>
          <a:p>
            <a:pPr>
              <a:buNone/>
            </a:pPr>
            <a:endParaRPr lang="en-US" dirty="0"/>
          </a:p>
          <a:p>
            <a:r>
              <a:rPr lang="en-US" dirty="0"/>
              <a:t>1. Multiple universities</a:t>
            </a:r>
            <a:br>
              <a:rPr lang="en-US" dirty="0"/>
            </a:br>
            <a:r>
              <a:rPr lang="en-US" dirty="0"/>
              <a:t>2. Larger sample sizes</a:t>
            </a:r>
            <a:br>
              <a:rPr lang="en-US" dirty="0"/>
            </a:br>
            <a:r>
              <a:rPr lang="en-US" dirty="0"/>
              <a:t>3. Advanced statistical analysis techniques</a:t>
            </a:r>
            <a:br>
              <a:rPr lang="en-US" dirty="0"/>
            </a:br>
            <a:r>
              <a:rPr lang="en-US" dirty="0"/>
              <a:t>4. Long-term impact analysis on career growth and employability</a:t>
            </a:r>
          </a:p>
          <a:p>
            <a:endParaRPr lang="en-US" dirty="0"/>
          </a:p>
          <a:p>
            <a:pPr>
              <a:buNone/>
            </a:pPr>
            <a:r>
              <a:rPr lang="en-US" dirty="0"/>
              <a:t>Further studies can provide deeper understanding of the relationship between extracurricular engagement and professional development.</a:t>
            </a:r>
          </a:p>
        </p:txBody>
      </p:sp>
    </p:spTree>
    <p:extLst>
      <p:ext uri="{BB962C8B-B14F-4D97-AF65-F5344CB8AC3E}">
        <p14:creationId xmlns:p14="http://schemas.microsoft.com/office/powerpoint/2010/main" val="692327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87116-AF8D-5F6E-0C12-00A7ECD16BD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A9C235E-AE87-64DC-75DC-295C6C21D73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References</a:t>
            </a:r>
          </a:p>
        </p:txBody>
      </p:sp>
      <p:sp>
        <p:nvSpPr>
          <p:cNvPr id="110" name="TextShape 3">
            <a:extLst>
              <a:ext uri="{FF2B5EF4-FFF2-40B4-BE49-F238E27FC236}">
                <a16:creationId xmlns:a16="http://schemas.microsoft.com/office/drawing/2014/main" id="{5C7B9955-F2E6-AFBA-DAB3-8197934D8CB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19</a:t>
            </a:fld>
            <a:endParaRPr lang="en-GB" sz="1200" b="0" strike="noStrike" spc="-1">
              <a:latin typeface="Times New Roman"/>
            </a:endParaRPr>
          </a:p>
        </p:txBody>
      </p:sp>
      <p:sp>
        <p:nvSpPr>
          <p:cNvPr id="3" name="TextBox 2">
            <a:extLst>
              <a:ext uri="{FF2B5EF4-FFF2-40B4-BE49-F238E27FC236}">
                <a16:creationId xmlns:a16="http://schemas.microsoft.com/office/drawing/2014/main" id="{727E71AC-DEDD-1592-256D-8DD8E17C7DEA}"/>
              </a:ext>
            </a:extLst>
          </p:cNvPr>
          <p:cNvSpPr txBox="1"/>
          <p:nvPr/>
        </p:nvSpPr>
        <p:spPr>
          <a:xfrm>
            <a:off x="457200" y="2037463"/>
            <a:ext cx="8229240" cy="1754326"/>
          </a:xfrm>
          <a:prstGeom prst="rect">
            <a:avLst/>
          </a:prstGeom>
          <a:noFill/>
        </p:spPr>
        <p:txBody>
          <a:bodyPr wrap="square">
            <a:spAutoFit/>
          </a:bodyPr>
          <a:lstStyle/>
          <a:p>
            <a:pPr>
              <a:buNone/>
            </a:pPr>
            <a:r>
              <a:rPr lang="en-US" dirty="0"/>
              <a:t>[1] A. W. Astin, “Student Involvement: A Developmental Theory for Higher Education,” 1984.</a:t>
            </a:r>
          </a:p>
          <a:p>
            <a:pPr>
              <a:buNone/>
            </a:pPr>
            <a:r>
              <a:rPr lang="en-US" dirty="0"/>
              <a:t>[2] G. D. Kuh, “High-Impact Educational Practices,” 2008.</a:t>
            </a:r>
          </a:p>
          <a:p>
            <a:pPr>
              <a:buNone/>
            </a:pPr>
            <a:r>
              <a:rPr lang="en-US" dirty="0"/>
              <a:t>[3] F. J. Baker, “The Impact of Extracurricular Activities on Student Development,” 2015.</a:t>
            </a:r>
          </a:p>
          <a:p>
            <a:pPr>
              <a:buNone/>
            </a:pPr>
            <a:r>
              <a:rPr lang="en-US" dirty="0"/>
              <a:t>[4] R. W. Larson, “Toward a Psychology of Positive Youth Development,” 2000.</a:t>
            </a:r>
          </a:p>
        </p:txBody>
      </p:sp>
    </p:spTree>
    <p:extLst>
      <p:ext uri="{BB962C8B-B14F-4D97-AF65-F5344CB8AC3E}">
        <p14:creationId xmlns:p14="http://schemas.microsoft.com/office/powerpoint/2010/main" val="2727472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34730</TotalTime>
  <Words>1020</Words>
  <Application>Microsoft Office PowerPoint</Application>
  <PresentationFormat>On-screen Show (4:3)</PresentationFormat>
  <Paragraphs>162</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Ishika Taneja</cp:lastModifiedBy>
  <cp:revision>2304</cp:revision>
  <dcterms:created xsi:type="dcterms:W3CDTF">2010-04-09T07:36:15Z</dcterms:created>
  <dcterms:modified xsi:type="dcterms:W3CDTF">2026-05-08T17:16:59Z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